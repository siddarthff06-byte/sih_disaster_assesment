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.png"/><Relationship Id="rId14" Type="http://schemas.openxmlformats.org/officeDocument/2006/relationships/image" Target="../media/image9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2.png"/><Relationship Id="rId9" Type="http://schemas.openxmlformats.org/officeDocument/2006/relationships/image" Target="../media/image9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39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5775" y="3446264"/>
            <a:ext cx="11220450" cy="2009775"/>
          </a:xfrm>
          <a:prstGeom prst="roundRect">
            <a:avLst>
              <a:gd name="adj" fmla="val 0"/>
            </a:avLst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3446264"/>
          <a:ext cx="11210924" cy="200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02731"/>
                <a:gridCol w="8408193"/>
              </a:tblGrid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Problem Statement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9FAFB"/>
                          </a:solidFill>
                          <a:latin typeface="Plus Jakarta Sans Medium"/>
                        </a:rPr>
                        <a:t>SIH2025-XXXX (AI Structural Integrity &amp; Hazard Assessment)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Problem Statement Title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9FAFB"/>
                          </a:solidFill>
                          <a:latin typeface="Plus Jakarta Sans Medium"/>
                        </a:rPr>
                        <a:t>AI-Driven Autonomous Visual Inspection &amp; Real-Time Threat Assessment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Theme &amp; PS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9FAFB"/>
                          </a:solidFill>
                          <a:latin typeface="Plus Jakarta Sans Medium"/>
                        </a:rPr>
                        <a:t>Smart Automation / Defense &amp; Security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Software / Hardware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Software Edition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Team ID &amp; Team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9FAFB"/>
                          </a:solidFill>
                          <a:latin typeface="Plus Jakarta Sans Medium"/>
                        </a:rPr>
                        <a:t>Team ID: [Your Team ID]  |  Team Name: </a:t>
                      </a:r>
                      <a:r>
                        <a:rPr b="1" sz="1012" i="0" u="none">
                          <a:solidFill>
                            <a:srgbClr val="F9FAFB"/>
                          </a:solidFill>
                          <a:latin typeface="Plus Jakarta Sans"/>
                        </a:rPr>
                        <a:t>Dristhi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7487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4150"/>
            <a:ext cx="504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1 / 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123" y="2163812"/>
            <a:ext cx="2215604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11864" y="2440037"/>
            <a:ext cx="116827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150" i="0" u="none">
                <a:solidFill>
                  <a:srgbClr val="FFFFFF"/>
                </a:solidFill>
                <a:latin typeface="Plus Jakarta Sans ExtraBold"/>
              </a:rPr>
              <a:t>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2887" y="2963912"/>
            <a:ext cx="4086225" cy="234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48"/>
              </a:lnSpc>
            </a:pPr>
            <a:r>
              <a:rPr b="0" sz="1275" i="0" u="none">
                <a:solidFill>
                  <a:srgbClr val="38BDF8"/>
                </a:solidFill>
                <a:latin typeface="Plus Jakarta Sans SemiBold"/>
              </a:rPr>
              <a:t>Visual Intelligence for Structure &amp; Threat Assessment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1401812"/>
            <a:ext cx="25146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26493"/>
            <a:ext cx="3625750" cy="2738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75" y="2426493"/>
            <a:ext cx="3625899" cy="2738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325" y="2426493"/>
            <a:ext cx="3625750" cy="27384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33387"/>
            <a:ext cx="301303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PROPOSED SOLUTION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2350" y="6534150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2 / 7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2645568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9200" y="2731293"/>
            <a:ext cx="186023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Deep Visual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140868"/>
            <a:ext cx="2939950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Universal Camera Ingestion: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Connects directly to existing RTSP, IP cameras, and aerial drone feeds.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804642"/>
            <a:ext cx="2939950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Sub-Pixel Defect Parsing: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Automated extraction of micro-fractures, concrete spalling, and metal corrosion.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468415"/>
            <a:ext cx="29399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Structural Fatigue Models: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Tracks temporal degradation patterns to predict long-term wear.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2050" y="2645568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6400" y="2731293"/>
            <a:ext cx="223027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Real-Time Threat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9700" y="3140868"/>
            <a:ext cx="2940099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Perimeter Anomaly Tracking: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Real-time identification of unauthorized intrusions and foreign object hazards.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9700" y="3804642"/>
            <a:ext cx="294009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Spatial Risk Scoring: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Dynamic scoring algorithm that filters environmental noise.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9700" y="4282082"/>
            <a:ext cx="2940099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Instant Alert Triggers: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Direct push notifications to command centers and mobile operators.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9400" y="2645568"/>
            <a:ext cx="3810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13750" y="2731293"/>
            <a:ext cx="202025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Innovation &amp; Uniqueness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7050" y="3140868"/>
            <a:ext cx="29399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Zero Hardware Overhaul: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Operates entirely on existing camera networks, saving capital costs.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7050" y="3618309"/>
            <a:ext cx="2939950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88% False Alarm Reduction: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Context-aware temporal filtering suppresses environmental noise.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7050" y="4282082"/>
            <a:ext cx="2939950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Edge &amp; Cloud Hybrid: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Offers sub-50ms critical hazard response at the edge with central analytics.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750343"/>
            <a:ext cx="17145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225" y="2750343"/>
            <a:ext cx="1333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3164681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3828454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4492228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050" y="3164681"/>
            <a:ext cx="1143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050" y="3828454"/>
            <a:ext cx="11430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050" y="4305895"/>
            <a:ext cx="11430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9400" y="3164681"/>
            <a:ext cx="1524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9400" y="3642121"/>
            <a:ext cx="15240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9400" y="4305895"/>
            <a:ext cx="1524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68264"/>
            <a:ext cx="2719387" cy="108912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62" y="2068264"/>
            <a:ext cx="2719387" cy="10891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2068264"/>
            <a:ext cx="2719387" cy="108912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6837" y="2068264"/>
            <a:ext cx="2719387" cy="108912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328838"/>
            <a:ext cx="5505450" cy="21943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0775" y="3328838"/>
            <a:ext cx="5505450" cy="219432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0693" y="2211139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4381" y="2211139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8068" y="2211139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1756" y="2211139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433387"/>
            <a:ext cx="315086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TECHNICAL APPROACH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7962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2350" y="6534150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3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806" y="2496889"/>
            <a:ext cx="259532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12" i="0" u="none">
                <a:solidFill>
                  <a:srgbClr val="F9FAFB"/>
                </a:solidFill>
                <a:latin typeface="Plus Jakarta Sans"/>
              </a:rPr>
              <a:t>Video Ingestion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696914"/>
            <a:ext cx="2471737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50"/>
              </a:lnSpc>
            </a:pPr>
            <a:r>
              <a:rPr b="0" sz="862" i="0" u="none">
                <a:solidFill>
                  <a:srgbClr val="9CA3AF"/>
                </a:solidFill>
                <a:latin typeface="Plus Jakarta Sans"/>
              </a:rPr>
              <a:t>RTSP / WebRTC stream capture from existing cameras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494" y="2496889"/>
            <a:ext cx="259532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12" i="0" u="none">
                <a:solidFill>
                  <a:srgbClr val="F9FAFB"/>
                </a:solidFill>
                <a:latin typeface="Plus Jakarta Sans"/>
              </a:rPr>
              <a:t>Deep AI Neural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3287" y="2696914"/>
            <a:ext cx="2471737" cy="15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50"/>
              </a:lnSpc>
            </a:pPr>
            <a:r>
              <a:rPr b="0" sz="862" i="0" u="none">
                <a:solidFill>
                  <a:srgbClr val="9CA3AF"/>
                </a:solidFill>
                <a:latin typeface="Plus Jakarta Sans"/>
              </a:rPr>
              <a:t>Vision Transformers &amp; SAM segmentation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5181" y="2496889"/>
            <a:ext cx="259532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12" i="0" u="none">
                <a:solidFill>
                  <a:srgbClr val="F9FAFB"/>
                </a:solidFill>
                <a:latin typeface="Plus Jakarta Sans"/>
              </a:rPr>
              <a:t>Algorithmic Risk Scorer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2696914"/>
            <a:ext cx="2471737" cy="15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50"/>
              </a:lnSpc>
            </a:pPr>
            <a:r>
              <a:rPr b="0" sz="862" i="0" u="none">
                <a:solidFill>
                  <a:srgbClr val="9CA3AF"/>
                </a:solidFill>
                <a:latin typeface="Plus Jakarta Sans"/>
              </a:rPr>
              <a:t>Sub-pixel defect &amp; threat evaluation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869" y="2496889"/>
            <a:ext cx="259532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12" i="0" u="none">
                <a:solidFill>
                  <a:srgbClr val="F9FAFB"/>
                </a:solidFill>
                <a:latin typeface="Plus Jakarta Sans"/>
              </a:rPr>
              <a:t>Command Console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0662" y="2696914"/>
            <a:ext cx="2471737" cy="15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50"/>
              </a:lnSpc>
            </a:pPr>
            <a:r>
              <a:rPr b="0" sz="862" i="0" u="none">
                <a:solidFill>
                  <a:srgbClr val="9CA3AF"/>
                </a:solidFill>
                <a:latin typeface="Plus Jakarta Sans"/>
              </a:rPr>
              <a:t>Web Dashboard, REST APIs &amp; Instant Alerts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750" y="3509813"/>
            <a:ext cx="323850" cy="323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3950" y="3571726"/>
            <a:ext cx="241030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9FAFB"/>
                </a:solidFill>
                <a:latin typeface="Plus Jakarta Sans"/>
              </a:rPr>
              <a:t>Core Tech Stack &amp; Frameworks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09863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AI &amp; Vision: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PyTorch, OpenCV, ONNX Runtime, TensorRT (NVIDIA GPU Acceleration)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87304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Deep Learning Models: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Vision Transformers (ViT), YOLOv8, Segment Anything Model (SAM)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64744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Web Console &amp; API: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ReactJS (WebGL Overlay), FastAPI async services, PostgreSQL / Redis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1750" y="3509813"/>
            <a:ext cx="323850" cy="3238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38950" y="3571726"/>
            <a:ext cx="303037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9FAFB"/>
                </a:solidFill>
                <a:latin typeface="Plus Jakarta Sans"/>
              </a:rPr>
              <a:t>Methodology &amp; Execution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909863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Containerized Deployment: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Modular microservices packaged using Docker &amp; Kubernetes orchestration.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387304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Plug &amp; Play Integration: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Hooks into standard NVRs, optical/thermal streams, and edge hardware.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864744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Low Latency Processing: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Frame batching pipeline optimized for under 50ms inference time.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3605063"/>
            <a:ext cx="1714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7950" y="3605063"/>
            <a:ext cx="17145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6750" y="3933676"/>
            <a:ext cx="152400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" y="4411116"/>
            <a:ext cx="133350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" y="4888557"/>
            <a:ext cx="152400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1750" y="3933676"/>
            <a:ext cx="114300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0" y="4411116"/>
            <a:ext cx="1047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1750" y="488855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12826"/>
            <a:ext cx="5505450" cy="2365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612826"/>
            <a:ext cx="5505450" cy="23657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33387"/>
            <a:ext cx="358544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FEASIBILITY AND VIABILITY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34150"/>
            <a:ext cx="533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4 / 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2831901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2917626"/>
            <a:ext cx="154019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Feasibility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327201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Technical Feasibility: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High throughput inference maintaining &lt;50ms frame latency across multi-stream feeds.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0464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Financial Viability: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Eliminates expensive sensor hardware installation by retrofitting existing surveillance cameras.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28208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Operational Scalability: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Microservice design enables rapid deployment across multi-facility command centers.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831901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34200" y="2917626"/>
            <a:ext cx="281035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Challenges &amp; Mitigation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618309"/>
            <a:ext cx="4819650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Challenge: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Processing high-resolution feeds without network or server bandwidth bottlenecking.</a:t>
            </a:r>
            <a:r>
              <a:t>
</a:t>
            </a:r>
            <a:r>
              <a:rPr b="0" sz="1012" i="0" u="none">
                <a:solidFill>
                  <a:srgbClr val="38BDF8"/>
                </a:solidFill>
                <a:latin typeface="Plus Jakarta Sans"/>
              </a:rPr>
              <a:t>→ </a:t>
            </a:r>
            <a:r>
              <a:rPr b="0" sz="1012" i="1" u="none">
                <a:solidFill>
                  <a:srgbClr val="38BDF8"/>
                </a:solidFill>
                <a:latin typeface="Plus Jakarta Sans"/>
              </a:rPr>
              <a:t>Mitigation:</a:t>
            </a:r>
            <a:r>
              <a:rPr b="0" sz="1012" i="0" u="none">
                <a:solidFill>
                  <a:srgbClr val="38BDF8"/>
                </a:solidFill>
                <a:latin typeface="Plus Jakarta Sans"/>
              </a:rPr>
              <a:t> Dynamic FPS throttling &amp; edge frame-filtering algorithms.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428208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Challenge: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Low-light visibility &amp; poor weather camera degradation.</a:t>
            </a:r>
            <a:r>
              <a:t>
</a:t>
            </a:r>
            <a:r>
              <a:rPr b="0" sz="1012" i="0" u="none">
                <a:solidFill>
                  <a:srgbClr val="38BDF8"/>
                </a:solidFill>
                <a:latin typeface="Plus Jakarta Sans"/>
              </a:rPr>
              <a:t>→ </a:t>
            </a:r>
            <a:r>
              <a:rPr b="0" sz="1012" i="1" u="none">
                <a:solidFill>
                  <a:srgbClr val="38BDF8"/>
                </a:solidFill>
                <a:latin typeface="Plus Jakarta Sans"/>
              </a:rPr>
              <a:t>Mitigation:</a:t>
            </a:r>
            <a:r>
              <a:rPr b="0" sz="1012" i="0" u="none">
                <a:solidFill>
                  <a:srgbClr val="38BDF8"/>
                </a:solidFill>
                <a:latin typeface="Plus Jakarta Sans"/>
              </a:rPr>
              <a:t> Dynamic contrast enhancement &amp; thermal stream sensor fusion.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936676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2936676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351014"/>
            <a:ext cx="13335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828454"/>
            <a:ext cx="13335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4305895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3642121"/>
            <a:ext cx="13335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4305895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11449"/>
            <a:ext cx="3625750" cy="9129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75" y="2311449"/>
            <a:ext cx="3625899" cy="9129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325" y="2311449"/>
            <a:ext cx="3625750" cy="9129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376761"/>
            <a:ext cx="5505450" cy="19032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3376761"/>
            <a:ext cx="5505450" cy="190321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433387"/>
            <a:ext cx="299865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IMPACT AND BENEFITS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2350" y="6534150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5 /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1925" y="2473374"/>
            <a:ext cx="933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550" i="0" u="none">
                <a:solidFill>
                  <a:srgbClr val="38BDF8"/>
                </a:solidFill>
                <a:latin typeface="Space Grotesk ExtraBold"/>
              </a:rPr>
              <a:t>99.2%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9500" y="2882949"/>
            <a:ext cx="1638300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Defect Detection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1526" y="2473374"/>
            <a:ext cx="6286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550" i="0" u="none">
                <a:solidFill>
                  <a:srgbClr val="10B981"/>
                </a:solidFill>
                <a:latin typeface="Space Grotesk ExtraBold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4338" y="2882949"/>
            <a:ext cx="13430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False Alarm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4113" y="2473374"/>
            <a:ext cx="63817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550" i="0" u="none">
                <a:solidFill>
                  <a:srgbClr val="F59E0B"/>
                </a:solidFill>
                <a:latin typeface="Space Grotesk ExtraBold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100" y="2882949"/>
            <a:ext cx="1600200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Inspection Cost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3557736"/>
            <a:ext cx="540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Target Audience &amp;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3557736"/>
            <a:ext cx="540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lus Jakarta Sans"/>
              </a:rPr>
              <a:t>Multi-Dimensional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44119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Infrastructure Authorities: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Automated structural health monitoring for bridges, dams, roads, and railway systems.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21559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Security Teams: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Perimeter intelligence layer for instant threat categorization over existing CCTV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53011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Social: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Early algorithmic detection prevents structural failures and protects human lives.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30451"/>
            <a:ext cx="48958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Economic: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Lowers inspection overhead, prevents catastrophic damage, and extends asset lifespan.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07892"/>
            <a:ext cx="4895850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Environmental: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Reduces carbon footprint of physical inspection vehicle fleets.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4167931"/>
            <a:ext cx="17145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645372"/>
            <a:ext cx="1524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3876823"/>
            <a:ext cx="13335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4354264"/>
            <a:ext cx="1333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4831705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12826"/>
            <a:ext cx="5505450" cy="2365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612826"/>
            <a:ext cx="5505450" cy="23657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33387"/>
            <a:ext cx="389001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RESEARCH AND REFERENCES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2350" y="6534150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6 / 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2831901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2917626"/>
            <a:ext cx="252031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Research &amp; Technical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327201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Vision Transformers in SHM: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IEEE / CVPR papers on deep learning models applied to automated crack segmentation and structural health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0464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Real-Time Video Analytics: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Research on sub-50ms high-throughput stream processing using TensorRT and ONNX Runtime engines.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28208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Segment Anything (SAM) Fine-Tuning: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Multi-scale defect segmentation models for concrete and steel structures.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831901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34200" y="2917626"/>
            <a:ext cx="228028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9FAFB"/>
                </a:solidFill>
                <a:latin typeface="Plus Jakarta Sans"/>
              </a:rPr>
              <a:t>Standards &amp; Open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327201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Benchmark Datasets: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SDNET2018 Concrete Crack Dataset &amp; Anomaly Detection Repositories.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80464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Industry Standards: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ISO 13822 Guidelines for Assessment of Existing Structures.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282082"/>
            <a:ext cx="4819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SIH Guidelines: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Smart India Hackathon 2025 Problem Statement Guidelines and Evaluation Criteria.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936676"/>
            <a:ext cx="1524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936676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351014"/>
            <a:ext cx="1047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828454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4305895"/>
            <a:ext cx="1047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3351014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3828454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4305895"/>
            <a:ext cx="1524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77380"/>
            <a:ext cx="11220450" cy="28366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03836"/>
            <a:ext cx="10744200" cy="4720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48425"/>
            <a:ext cx="11220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33387"/>
            <a:ext cx="367217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IMPORTANT INSTRUCTIONS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050" y="390525"/>
            <a:ext cx="10191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34150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@SIH Idea submission 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6534150"/>
            <a:ext cx="352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Dristhi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2350" y="6534150"/>
            <a:ext cx="523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7280"/>
                </a:solidFill>
                <a:latin typeface="Plus Jakarta Sans SemiBold"/>
              </a:rPr>
              <a:t>Slide 7 / 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615505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50" y="2696467"/>
            <a:ext cx="367045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59E0B"/>
                </a:solidFill>
                <a:latin typeface="Plus Jakarta Sans"/>
              </a:rPr>
              <a:t>SIH Submission Guidelines &amp; 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206055"/>
            <a:ext cx="10496550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Maximum Slide Limit: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Kindly keep the maximum slides limit up to six (6) slides (including the title slide) for the final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497163"/>
            <a:ext cx="10496550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Format Style: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Avoid long text paragraphs; present your idea strictly in points, diagrams, flowcharts, and pictures.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788271"/>
            <a:ext cx="10496550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Clarity &amp; Novelty: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Keep explanations precise, easy to understand, unique, and novel without altering the mandatory template pointers.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079378"/>
            <a:ext cx="10496550" cy="186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D1D5DB"/>
                </a:solidFill>
                <a:latin typeface="Plus Jakarta Sans"/>
              </a:rPr>
              <a:t>File Format Requirement:</a:t>
            </a:r>
            <a:r>
              <a:rPr b="0" sz="1012" i="0" u="none">
                <a:solidFill>
                  <a:srgbClr val="D1D5DB"/>
                </a:solidFill>
                <a:latin typeface="Plus Jakarta Sans"/>
              </a:rPr>
              <a:t> Save and export the final document in PDF format only. Upload the PDF on the portal (Word Doc or PPT formats will not be supported).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646711"/>
            <a:ext cx="10353675" cy="186332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F3F4F6"/>
                </a:solidFill>
                <a:latin typeface="Plus Jakarta Sans SemiBold"/>
              </a:rPr>
              <a:t>Note: You can delete this instruction slide (Slide 7) prior to exporting and uploading your final PDF proposal on the SIH portal.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72028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4684811"/>
            <a:ext cx="133350" cy="12858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229867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520975"/>
            <a:ext cx="13335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812083"/>
            <a:ext cx="13335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103191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390525"/>
            <a:ext cx="117062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lus Jakarta Sans ExtraBold"/>
              </a:rPr>
              <a:t>IMAGE SOURCES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348037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1150" y="3362176"/>
            <a:ext cx="1012507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9FAFB"/>
                </a:solidFill>
                <a:latin typeface="Plus Jakarta Sans"/>
              </a:rPr>
              <a:t>https://www.uxdt.nic.in/wp-content/uploads/2025/07/smart-india-hackathon-smart-india-hackathon.jpg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150" y="3589287"/>
            <a:ext cx="101250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F9FAF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www.uxdt.nic.in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